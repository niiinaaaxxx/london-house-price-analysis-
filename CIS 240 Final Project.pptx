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3"/>
  </p:normalViewPr>
  <p:slideViewPr>
    <p:cSldViewPr snapToGrid="0">
      <p:cViewPr varScale="1">
        <p:scale>
          <a:sx n="157" d="100"/>
          <a:sy n="157" d="100"/>
        </p:scale>
        <p:origin x="512" y="1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1acb18e21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1acb18e2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1b10714a62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b10714a6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Initially, we had a lot of specific property types, which made it difficult to extract meaningful insights at a higher level. To address this, we </a:t>
            </a:r>
            <a:r>
              <a:rPr lang="en" b="1">
                <a:solidFill>
                  <a:schemeClr val="dk1"/>
                </a:solidFill>
              </a:rPr>
              <a:t>grouped these detailed property types</a:t>
            </a:r>
            <a:r>
              <a:rPr lang="en">
                <a:solidFill>
                  <a:schemeClr val="dk1"/>
                </a:solidFill>
              </a:rPr>
              <a:t> into broader, more manageable categories, which you can see in the transformation shown here.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 grouped the properties into four main categories:</a:t>
            </a:r>
            <a:endParaRPr>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 b="1">
                <a:solidFill>
                  <a:schemeClr val="dk1"/>
                </a:solidFill>
              </a:rPr>
              <a:t>Detached</a:t>
            </a:r>
            <a:r>
              <a:rPr lang="en">
                <a:solidFill>
                  <a:schemeClr val="dk1"/>
                </a:solidFill>
              </a:rPr>
              <a:t>: These are stand-alone homes that are not physically connected to other buildings, generally offering more privacy and space.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Flats/Maisonettes</a:t>
            </a:r>
            <a:r>
              <a:rPr lang="en">
                <a:solidFill>
                  <a:schemeClr val="dk1"/>
                </a:solidFill>
              </a:rPr>
              <a:t>: These are units within a larger building, typically sharing walls, which makes them a more common choice for urban living.</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Semi-Detached</a:t>
            </a:r>
            <a:r>
              <a:rPr lang="en">
                <a:solidFill>
                  <a:schemeClr val="dk1"/>
                </a:solidFill>
              </a:rPr>
              <a:t>: Properties in this category are partially attached to another dwelling. </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a:solidFill>
                  <a:schemeClr val="dk1"/>
                </a:solidFill>
              </a:rPr>
              <a:t>Terraced</a:t>
            </a:r>
            <a:r>
              <a:rPr lang="en">
                <a:solidFill>
                  <a:schemeClr val="dk1"/>
                </a:solidFill>
              </a:rPr>
              <a:t>: These are properties in a row of similar units, each sharing walls with its neighbors. </a:t>
            </a:r>
            <a:endParaRPr>
              <a:solidFill>
                <a:schemeClr val="dk1"/>
              </a:solidFill>
            </a:endParaRPr>
          </a:p>
          <a:p>
            <a:pPr marL="457200" lvl="0" indent="0" algn="l" rtl="0">
              <a:lnSpc>
                <a:spcPct val="115000"/>
              </a:lnSpc>
              <a:spcBef>
                <a:spcPts val="1200"/>
              </a:spcBef>
              <a:spcAft>
                <a:spcPts val="0"/>
              </a:spcAft>
              <a:buNone/>
            </a:pPr>
            <a:r>
              <a:rPr lang="en">
                <a:solidFill>
                  <a:schemeClr val="dk1"/>
                </a:solidFill>
              </a:rPr>
              <a:t>By grouping these property types, we were able to simplify our analysis and focus on broader trends, making it easier to identify key insights without getting lost in excessive details.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1b10714a62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1b10714a6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Here, we have </a:t>
            </a:r>
            <a:r>
              <a:rPr lang="en" b="1">
                <a:solidFill>
                  <a:schemeClr val="dk1"/>
                </a:solidFill>
              </a:rPr>
              <a:t>Visualization 1</a:t>
            </a:r>
            <a:r>
              <a:rPr lang="en">
                <a:solidFill>
                  <a:schemeClr val="dk1"/>
                </a:solidFill>
              </a:rPr>
              <a:t>, which looks at the </a:t>
            </a:r>
            <a:r>
              <a:rPr lang="en" b="1">
                <a:solidFill>
                  <a:schemeClr val="dk1"/>
                </a:solidFill>
              </a:rPr>
              <a:t>historical price changes over time</a:t>
            </a:r>
            <a:r>
              <a:rPr lang="en">
                <a:solidFill>
                  <a:schemeClr val="dk1"/>
                </a:solidFill>
              </a:rPr>
              <a:t> for different types of properties in London.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This </a:t>
            </a:r>
            <a:r>
              <a:rPr lang="en" b="1">
                <a:solidFill>
                  <a:schemeClr val="dk1"/>
                </a:solidFill>
              </a:rPr>
              <a:t>line chart</a:t>
            </a:r>
            <a:r>
              <a:rPr lang="en">
                <a:solidFill>
                  <a:schemeClr val="dk1"/>
                </a:solidFill>
              </a:rPr>
              <a:t> shows the </a:t>
            </a:r>
            <a:r>
              <a:rPr lang="en" b="1">
                <a:solidFill>
                  <a:schemeClr val="dk1"/>
                </a:solidFill>
              </a:rPr>
              <a:t>average historical property prices</a:t>
            </a:r>
            <a:r>
              <a:rPr lang="en">
                <a:solidFill>
                  <a:schemeClr val="dk1"/>
                </a:solidFill>
              </a:rPr>
              <a:t> for </a:t>
            </a:r>
            <a:r>
              <a:rPr lang="en" b="1">
                <a:solidFill>
                  <a:schemeClr val="dk1"/>
                </a:solidFill>
              </a:rPr>
              <a:t>Detached</a:t>
            </a:r>
            <a:r>
              <a:rPr lang="en">
                <a:solidFill>
                  <a:schemeClr val="dk1"/>
                </a:solidFill>
              </a:rPr>
              <a:t>, </a:t>
            </a:r>
            <a:r>
              <a:rPr lang="en" b="1">
                <a:solidFill>
                  <a:schemeClr val="dk1"/>
                </a:solidFill>
              </a:rPr>
              <a:t>Flats/Maisonettes</a:t>
            </a:r>
            <a:r>
              <a:rPr lang="en">
                <a:solidFill>
                  <a:schemeClr val="dk1"/>
                </a:solidFill>
              </a:rPr>
              <a:t>, </a:t>
            </a:r>
            <a:r>
              <a:rPr lang="en" b="1">
                <a:solidFill>
                  <a:schemeClr val="dk1"/>
                </a:solidFill>
              </a:rPr>
              <a:t>Semi-Detached</a:t>
            </a:r>
            <a:r>
              <a:rPr lang="en">
                <a:solidFill>
                  <a:schemeClr val="dk1"/>
                </a:solidFill>
              </a:rPr>
              <a:t>, and </a:t>
            </a:r>
            <a:r>
              <a:rPr lang="en" b="1">
                <a:solidFill>
                  <a:schemeClr val="dk1"/>
                </a:solidFill>
              </a:rPr>
              <a:t>Terraced</a:t>
            </a:r>
            <a:r>
              <a:rPr lang="en">
                <a:solidFill>
                  <a:schemeClr val="dk1"/>
                </a:solidFill>
              </a:rPr>
              <a:t> properties from 1995 to 2024. The question we aim to answer here is: </a:t>
            </a:r>
            <a:r>
              <a:rPr lang="en" b="1">
                <a:solidFill>
                  <a:schemeClr val="dk1"/>
                </a:solidFill>
              </a:rPr>
              <a:t>How have property prices changed over the years across these different property types?</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As we can see, there has been a </a:t>
            </a:r>
            <a:r>
              <a:rPr lang="en" b="1">
                <a:solidFill>
                  <a:schemeClr val="dk1"/>
                </a:solidFill>
              </a:rPr>
              <a:t>consistent increase in average property prices</a:t>
            </a:r>
            <a:r>
              <a:rPr lang="en">
                <a:solidFill>
                  <a:schemeClr val="dk1"/>
                </a:solidFill>
              </a:rPr>
              <a:t> over time for all property types. However, the </a:t>
            </a:r>
            <a:r>
              <a:rPr lang="en" b="1">
                <a:solidFill>
                  <a:schemeClr val="dk1"/>
                </a:solidFill>
              </a:rPr>
              <a:t>Detached properties</a:t>
            </a:r>
            <a:r>
              <a:rPr lang="en">
                <a:solidFill>
                  <a:schemeClr val="dk1"/>
                </a:solidFill>
              </a:rPr>
              <a:t> stand out, with a particularly </a:t>
            </a:r>
            <a:r>
              <a:rPr lang="en" b="1">
                <a:solidFill>
                  <a:schemeClr val="dk1"/>
                </a:solidFill>
              </a:rPr>
              <a:t>steep rise</a:t>
            </a:r>
            <a:r>
              <a:rPr lang="en">
                <a:solidFill>
                  <a:schemeClr val="dk1"/>
                </a:solidFill>
              </a:rPr>
              <a:t> in price, especially between </a:t>
            </a:r>
            <a:r>
              <a:rPr lang="en" b="1">
                <a:solidFill>
                  <a:schemeClr val="dk1"/>
                </a:solidFill>
              </a:rPr>
              <a:t>2017-2018</a:t>
            </a:r>
            <a:r>
              <a:rPr lang="en">
                <a:solidFill>
                  <a:schemeClr val="dk1"/>
                </a:solidFill>
              </a:rPr>
              <a:t> and again around </a:t>
            </a:r>
            <a:r>
              <a:rPr lang="en" b="1">
                <a:solidFill>
                  <a:schemeClr val="dk1"/>
                </a:solidFill>
              </a:rPr>
              <a:t>2020-2023</a:t>
            </a:r>
            <a:r>
              <a:rPr lang="en">
                <a:solidFill>
                  <a:schemeClr val="dk1"/>
                </a:solidFill>
              </a:rPr>
              <a:t>. This likely reflects their popularity and perhaps the growing demand for larger living spaces, particularly during the pandemic years.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Other property types, including </a:t>
            </a:r>
            <a:r>
              <a:rPr lang="en" b="1">
                <a:solidFill>
                  <a:schemeClr val="dk1"/>
                </a:solidFill>
              </a:rPr>
              <a:t>Flats/Maisonettes</a:t>
            </a:r>
            <a:r>
              <a:rPr lang="en">
                <a:solidFill>
                  <a:schemeClr val="dk1"/>
                </a:solidFill>
              </a:rPr>
              <a:t>, </a:t>
            </a:r>
            <a:r>
              <a:rPr lang="en" b="1">
                <a:solidFill>
                  <a:schemeClr val="dk1"/>
                </a:solidFill>
              </a:rPr>
              <a:t>Semi-Detached</a:t>
            </a:r>
            <a:r>
              <a:rPr lang="en">
                <a:solidFill>
                  <a:schemeClr val="dk1"/>
                </a:solidFill>
              </a:rPr>
              <a:t>, and </a:t>
            </a:r>
            <a:r>
              <a:rPr lang="en" b="1">
                <a:solidFill>
                  <a:schemeClr val="dk1"/>
                </a:solidFill>
              </a:rPr>
              <a:t>Terraced</a:t>
            </a:r>
            <a:r>
              <a:rPr lang="en">
                <a:solidFill>
                  <a:schemeClr val="dk1"/>
                </a:solidFill>
              </a:rPr>
              <a:t> properties, have also shown an </a:t>
            </a:r>
            <a:r>
              <a:rPr lang="en" b="1">
                <a:solidFill>
                  <a:schemeClr val="dk1"/>
                </a:solidFill>
              </a:rPr>
              <a:t>upward trend</a:t>
            </a:r>
            <a:r>
              <a:rPr lang="en">
                <a:solidFill>
                  <a:schemeClr val="dk1"/>
                </a:solidFill>
              </a:rPr>
              <a:t>, but at a slower pace compared to </a:t>
            </a:r>
            <a:r>
              <a:rPr lang="en" b="1">
                <a:solidFill>
                  <a:schemeClr val="dk1"/>
                </a:solidFill>
              </a:rPr>
              <a:t>Detached</a:t>
            </a:r>
            <a:r>
              <a:rPr lang="en">
                <a:solidFill>
                  <a:schemeClr val="dk1"/>
                </a:solidFill>
              </a:rPr>
              <a:t> properties.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One interesting observation here is that </a:t>
            </a:r>
            <a:r>
              <a:rPr lang="en" b="1">
                <a:solidFill>
                  <a:schemeClr val="dk1"/>
                </a:solidFill>
              </a:rPr>
              <a:t>Flats/Maisonettes</a:t>
            </a:r>
            <a:r>
              <a:rPr lang="en">
                <a:solidFill>
                  <a:schemeClr val="dk1"/>
                </a:solidFill>
              </a:rPr>
              <a:t> seem to have </a:t>
            </a:r>
            <a:r>
              <a:rPr lang="en" b="1">
                <a:solidFill>
                  <a:schemeClr val="dk1"/>
                </a:solidFill>
              </a:rPr>
              <a:t>lost some of their appeal</a:t>
            </a:r>
            <a:r>
              <a:rPr lang="en">
                <a:solidFill>
                  <a:schemeClr val="dk1"/>
                </a:solidFill>
              </a:rPr>
              <a:t> since </a:t>
            </a:r>
            <a:r>
              <a:rPr lang="en" b="1">
                <a:solidFill>
                  <a:schemeClr val="dk1"/>
                </a:solidFill>
              </a:rPr>
              <a:t>2018</a:t>
            </a:r>
            <a:r>
              <a:rPr lang="en">
                <a:solidFill>
                  <a:schemeClr val="dk1"/>
                </a:solidFill>
              </a:rPr>
              <a:t>, as reflected by the decline in their average price. This could be due to </a:t>
            </a:r>
            <a:r>
              <a:rPr lang="en" b="1">
                <a:solidFill>
                  <a:schemeClr val="dk1"/>
                </a:solidFill>
              </a:rPr>
              <a:t>changing lifestyle needs</a:t>
            </a:r>
            <a:r>
              <a:rPr lang="en">
                <a:solidFill>
                  <a:schemeClr val="dk1"/>
                </a:solidFill>
              </a:rPr>
              <a:t>, such as preferences for larger homes, </a:t>
            </a:r>
            <a:r>
              <a:rPr lang="en" b="1">
                <a:solidFill>
                  <a:schemeClr val="dk1"/>
                </a:solidFill>
              </a:rPr>
              <a:t>economic factors</a:t>
            </a:r>
            <a:r>
              <a:rPr lang="en">
                <a:solidFill>
                  <a:schemeClr val="dk1"/>
                </a:solidFill>
              </a:rPr>
              <a:t>, or possibly a </a:t>
            </a:r>
            <a:r>
              <a:rPr lang="en" b="1">
                <a:solidFill>
                  <a:schemeClr val="dk1"/>
                </a:solidFill>
              </a:rPr>
              <a:t>supply-demand imbalance</a:t>
            </a:r>
            <a:r>
              <a:rPr lang="en">
                <a:solidFill>
                  <a:schemeClr val="dk1"/>
                </a:solidFill>
              </a:rPr>
              <a:t>.</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1b10714a62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1b10714a6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1b10714a62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1b10714a6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1b174f4b0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1b174f4b0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1b174f4b00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1b174f4b00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1b10714a62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1b10714a62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latin typeface="Times New Roman"/>
                <a:ea typeface="Times New Roman"/>
                <a:cs typeface="Times New Roman"/>
                <a:sym typeface="Times New Roman"/>
              </a:rPr>
              <a:t>CIS 240 Final Project </a:t>
            </a:r>
            <a:endParaRPr>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latin typeface="Times New Roman"/>
                <a:ea typeface="Times New Roman"/>
                <a:cs typeface="Times New Roman"/>
                <a:sym typeface="Times New Roman"/>
              </a:rPr>
              <a:t>London House Price Analysis</a:t>
            </a:r>
            <a:r>
              <a:rPr lang="en" dirty="0"/>
              <a:t> </a:t>
            </a:r>
            <a:endParaRPr dirty="0"/>
          </a:p>
        </p:txBody>
      </p:sp>
      <p:sp>
        <p:nvSpPr>
          <p:cNvPr id="56" name="Google Shape;56;p13"/>
          <p:cNvSpPr txBox="1"/>
          <p:nvPr/>
        </p:nvSpPr>
        <p:spPr>
          <a:xfrm>
            <a:off x="3153300" y="3506150"/>
            <a:ext cx="2837400" cy="411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solidFill>
                  <a:schemeClr val="dk2"/>
                </a:solidFill>
                <a:latin typeface="Times New Roman"/>
                <a:ea typeface="Times New Roman"/>
                <a:cs typeface="Times New Roman"/>
                <a:sym typeface="Times New Roman"/>
              </a:rPr>
              <a:t>Simeng Xiong </a:t>
            </a:r>
            <a:endParaRPr sz="1800" dirty="0">
              <a:solidFill>
                <a:schemeClr val="dk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latin typeface="Times New Roman"/>
                <a:ea typeface="Times New Roman"/>
                <a:cs typeface="Times New Roman"/>
                <a:sym typeface="Times New Roman"/>
              </a:rPr>
              <a:t>Introduction </a:t>
            </a:r>
            <a:endParaRPr b="1">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300" b="1">
                <a:solidFill>
                  <a:schemeClr val="dk1"/>
                </a:solidFill>
                <a:latin typeface="Times New Roman"/>
                <a:ea typeface="Times New Roman"/>
                <a:cs typeface="Times New Roman"/>
                <a:sym typeface="Times New Roman"/>
              </a:rPr>
              <a:t>Data Source</a:t>
            </a:r>
            <a:r>
              <a:rPr lang="en" sz="1300">
                <a:solidFill>
                  <a:schemeClr val="dk1"/>
                </a:solidFill>
                <a:latin typeface="Times New Roman"/>
                <a:ea typeface="Times New Roman"/>
                <a:cs typeface="Times New Roman"/>
                <a:sym typeface="Times New Roman"/>
              </a:rPr>
              <a:t>: Kaggle - London Property Prices Dataset</a:t>
            </a:r>
            <a:endParaRPr sz="13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300" b="1">
                <a:solidFill>
                  <a:schemeClr val="dk1"/>
                </a:solidFill>
                <a:latin typeface="Times New Roman"/>
                <a:ea typeface="Times New Roman"/>
                <a:cs typeface="Times New Roman"/>
                <a:sym typeface="Times New Roman"/>
              </a:rPr>
              <a:t>Overview of Dataset</a:t>
            </a:r>
            <a:r>
              <a:rPr lang="en" sz="1300">
                <a:solidFill>
                  <a:schemeClr val="dk1"/>
                </a:solidFill>
                <a:latin typeface="Times New Roman"/>
                <a:ea typeface="Times New Roman"/>
                <a:cs typeface="Times New Roman"/>
                <a:sym typeface="Times New Roman"/>
              </a:rPr>
              <a:t>:</a:t>
            </a:r>
            <a:endParaRPr sz="1300">
              <a:solidFill>
                <a:schemeClr val="dk1"/>
              </a:solidFill>
              <a:latin typeface="Times New Roman"/>
              <a:ea typeface="Times New Roman"/>
              <a:cs typeface="Times New Roman"/>
              <a:sym typeface="Times New Roman"/>
            </a:endParaRPr>
          </a:p>
          <a:p>
            <a:pPr marL="457200" lvl="0" indent="-311150" algn="l" rtl="0">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The dataset contains 200k+ records, offering a detailed view of residential properties in London.</a:t>
            </a:r>
            <a:endParaRPr sz="1300">
              <a:solidFill>
                <a:schemeClr val="dk1"/>
              </a:solidFill>
              <a:latin typeface="Times New Roman"/>
              <a:ea typeface="Times New Roman"/>
              <a:cs typeface="Times New Roman"/>
              <a:sym typeface="Times New Roman"/>
            </a:endParaRPr>
          </a:p>
          <a:p>
            <a:pPr marL="457200" lvl="0" indent="-311150" algn="l" rtl="0">
              <a:spcBef>
                <a:spcPts val="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Includes historical prices, current sale and rental estimates, property characteristics, and geographic data.</a:t>
            </a:r>
            <a:endParaRPr sz="13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300" b="1">
                <a:solidFill>
                  <a:schemeClr val="dk1"/>
                </a:solidFill>
                <a:latin typeface="Times New Roman"/>
                <a:ea typeface="Times New Roman"/>
                <a:cs typeface="Times New Roman"/>
                <a:sym typeface="Times New Roman"/>
              </a:rPr>
              <a:t>Key Columns</a:t>
            </a:r>
            <a:r>
              <a:rPr lang="en" sz="1300">
                <a:solidFill>
                  <a:schemeClr val="dk1"/>
                </a:solidFill>
                <a:latin typeface="Times New Roman"/>
                <a:ea typeface="Times New Roman"/>
                <a:cs typeface="Times New Roman"/>
                <a:sym typeface="Times New Roman"/>
              </a:rPr>
              <a:t>:</a:t>
            </a:r>
            <a:endParaRPr sz="1300">
              <a:solidFill>
                <a:schemeClr val="dk1"/>
              </a:solidFill>
              <a:latin typeface="Times New Roman"/>
              <a:ea typeface="Times New Roman"/>
              <a:cs typeface="Times New Roman"/>
              <a:sym typeface="Times New Roman"/>
            </a:endParaRPr>
          </a:p>
          <a:p>
            <a:pPr marL="457200" lvl="0" indent="-311150" algn="l" rtl="0">
              <a:spcBef>
                <a:spcPts val="1200"/>
              </a:spcBef>
              <a:spcAft>
                <a:spcPts val="0"/>
              </a:spcAft>
              <a:buClr>
                <a:schemeClr val="dk1"/>
              </a:buClr>
              <a:buSzPts val="1300"/>
              <a:buChar char="●"/>
            </a:pPr>
            <a:r>
              <a:rPr lang="en" sz="1300" b="1">
                <a:solidFill>
                  <a:schemeClr val="dk1"/>
                </a:solidFill>
                <a:latin typeface="Times New Roman"/>
                <a:ea typeface="Times New Roman"/>
                <a:cs typeface="Times New Roman"/>
                <a:sym typeface="Times New Roman"/>
              </a:rPr>
              <a:t>Full Address</a:t>
            </a:r>
            <a:r>
              <a:rPr lang="en" sz="1300">
                <a:solidFill>
                  <a:schemeClr val="dk1"/>
                </a:solidFill>
                <a:latin typeface="Times New Roman"/>
                <a:ea typeface="Times New Roman"/>
                <a:cs typeface="Times New Roman"/>
                <a:sym typeface="Times New Roman"/>
              </a:rPr>
              <a:t>: Complete property address.</a:t>
            </a:r>
            <a:endParaRPr sz="1300">
              <a:solidFill>
                <a:schemeClr val="dk1"/>
              </a:solidFill>
              <a:latin typeface="Times New Roman"/>
              <a:ea typeface="Times New Roman"/>
              <a:cs typeface="Times New Roman"/>
              <a:sym typeface="Times New Roman"/>
            </a:endParaRPr>
          </a:p>
          <a:p>
            <a:pPr marL="457200" lvl="0" indent="-311150" algn="l" rtl="0">
              <a:spcBef>
                <a:spcPts val="0"/>
              </a:spcBef>
              <a:spcAft>
                <a:spcPts val="0"/>
              </a:spcAft>
              <a:buClr>
                <a:schemeClr val="dk1"/>
              </a:buClr>
              <a:buSzPts val="1300"/>
              <a:buChar char="●"/>
            </a:pPr>
            <a:r>
              <a:rPr lang="en" sz="1300" b="1">
                <a:solidFill>
                  <a:schemeClr val="dk1"/>
                </a:solidFill>
                <a:latin typeface="Times New Roman"/>
                <a:ea typeface="Times New Roman"/>
                <a:cs typeface="Times New Roman"/>
                <a:sym typeface="Times New Roman"/>
              </a:rPr>
              <a:t>Latitude &amp; Longitude</a:t>
            </a:r>
            <a:r>
              <a:rPr lang="en" sz="1300">
                <a:solidFill>
                  <a:schemeClr val="dk1"/>
                </a:solidFill>
                <a:latin typeface="Times New Roman"/>
                <a:ea typeface="Times New Roman"/>
                <a:cs typeface="Times New Roman"/>
                <a:sym typeface="Times New Roman"/>
              </a:rPr>
              <a:t>: Geographic coordinates for mapping.</a:t>
            </a:r>
            <a:endParaRPr sz="1300">
              <a:solidFill>
                <a:schemeClr val="dk1"/>
              </a:solidFill>
              <a:latin typeface="Times New Roman"/>
              <a:ea typeface="Times New Roman"/>
              <a:cs typeface="Times New Roman"/>
              <a:sym typeface="Times New Roman"/>
            </a:endParaRPr>
          </a:p>
          <a:p>
            <a:pPr marL="457200" lvl="0" indent="-311150" algn="l" rtl="0">
              <a:spcBef>
                <a:spcPts val="0"/>
              </a:spcBef>
              <a:spcAft>
                <a:spcPts val="0"/>
              </a:spcAft>
              <a:buClr>
                <a:schemeClr val="dk1"/>
              </a:buClr>
              <a:buSzPts val="1300"/>
              <a:buChar char="●"/>
            </a:pPr>
            <a:r>
              <a:rPr lang="en" sz="1300" b="1">
                <a:solidFill>
                  <a:schemeClr val="dk1"/>
                </a:solidFill>
                <a:latin typeface="Times New Roman"/>
                <a:ea typeface="Times New Roman"/>
                <a:cs typeface="Times New Roman"/>
                <a:sym typeface="Times New Roman"/>
              </a:rPr>
              <a:t>Property Details</a:t>
            </a:r>
            <a:r>
              <a:rPr lang="en" sz="1300">
                <a:solidFill>
                  <a:schemeClr val="dk1"/>
                </a:solidFill>
                <a:latin typeface="Times New Roman"/>
                <a:ea typeface="Times New Roman"/>
                <a:cs typeface="Times New Roman"/>
                <a:sym typeface="Times New Roman"/>
              </a:rPr>
              <a:t>: Bathrooms, bedrooms, floor area, property type, and tenure.</a:t>
            </a:r>
            <a:endParaRPr sz="1300">
              <a:solidFill>
                <a:schemeClr val="dk1"/>
              </a:solidFill>
              <a:latin typeface="Times New Roman"/>
              <a:ea typeface="Times New Roman"/>
              <a:cs typeface="Times New Roman"/>
              <a:sym typeface="Times New Roman"/>
            </a:endParaRPr>
          </a:p>
          <a:p>
            <a:pPr marL="457200" lvl="0" indent="-311150" algn="l" rtl="0">
              <a:spcBef>
                <a:spcPts val="0"/>
              </a:spcBef>
              <a:spcAft>
                <a:spcPts val="0"/>
              </a:spcAft>
              <a:buClr>
                <a:schemeClr val="dk1"/>
              </a:buClr>
              <a:buSzPts val="1300"/>
              <a:buChar char="●"/>
            </a:pPr>
            <a:r>
              <a:rPr lang="en" sz="1300" b="1">
                <a:solidFill>
                  <a:schemeClr val="dk1"/>
                </a:solidFill>
                <a:latin typeface="Times New Roman"/>
                <a:ea typeface="Times New Roman"/>
                <a:cs typeface="Times New Roman"/>
                <a:sym typeface="Times New Roman"/>
              </a:rPr>
              <a:t>Energy Rating</a:t>
            </a:r>
            <a:r>
              <a:rPr lang="en" sz="1300">
                <a:solidFill>
                  <a:schemeClr val="dk1"/>
                </a:solidFill>
                <a:latin typeface="Times New Roman"/>
                <a:ea typeface="Times New Roman"/>
                <a:cs typeface="Times New Roman"/>
                <a:sym typeface="Times New Roman"/>
              </a:rPr>
              <a:t>: Represents the efficiency of each property.</a:t>
            </a:r>
            <a:endParaRPr sz="1300">
              <a:solidFill>
                <a:schemeClr val="dk1"/>
              </a:solidFill>
              <a:latin typeface="Times New Roman"/>
              <a:ea typeface="Times New Roman"/>
              <a:cs typeface="Times New Roman"/>
              <a:sym typeface="Times New Roman"/>
            </a:endParaRPr>
          </a:p>
          <a:p>
            <a:pPr marL="457200" lvl="0" indent="-311150" algn="l" rtl="0">
              <a:spcBef>
                <a:spcPts val="0"/>
              </a:spcBef>
              <a:spcAft>
                <a:spcPts val="0"/>
              </a:spcAft>
              <a:buClr>
                <a:schemeClr val="dk1"/>
              </a:buClr>
              <a:buSzPts val="1300"/>
              <a:buChar char="●"/>
            </a:pPr>
            <a:r>
              <a:rPr lang="en" sz="1300" b="1">
                <a:solidFill>
                  <a:schemeClr val="dk1"/>
                </a:solidFill>
                <a:latin typeface="Times New Roman"/>
                <a:ea typeface="Times New Roman"/>
                <a:cs typeface="Times New Roman"/>
                <a:sym typeface="Times New Roman"/>
              </a:rPr>
              <a:t>Pricing Information</a:t>
            </a:r>
            <a:r>
              <a:rPr lang="en" sz="1300">
                <a:solidFill>
                  <a:schemeClr val="dk1"/>
                </a:solidFill>
                <a:latin typeface="Times New Roman"/>
                <a:ea typeface="Times New Roman"/>
                <a:cs typeface="Times New Roman"/>
                <a:sym typeface="Times New Roman"/>
              </a:rPr>
              <a:t>: Historical sale prices, current sale estimates with confidence levels, and rental estimates.</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29840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200"/>
              </a:spcAft>
              <a:buNone/>
            </a:pPr>
            <a:r>
              <a:rPr lang="en" b="1">
                <a:latin typeface="Times New Roman"/>
                <a:ea typeface="Times New Roman"/>
                <a:cs typeface="Times New Roman"/>
                <a:sym typeface="Times New Roman"/>
              </a:rPr>
              <a:t>Data Cleaning and Transformation</a:t>
            </a:r>
            <a:endParaRPr/>
          </a:p>
        </p:txBody>
      </p:sp>
      <p:sp>
        <p:nvSpPr>
          <p:cNvPr id="68" name="Google Shape;68;p15"/>
          <p:cNvSpPr txBox="1">
            <a:spLocks noGrp="1"/>
          </p:cNvSpPr>
          <p:nvPr>
            <p:ph type="body" idx="1"/>
          </p:nvPr>
        </p:nvSpPr>
        <p:spPr>
          <a:xfrm>
            <a:off x="549200" y="1017725"/>
            <a:ext cx="4022700" cy="3581700"/>
          </a:xfrm>
          <a:prstGeom prst="rect">
            <a:avLst/>
          </a:prstGeom>
        </p:spPr>
        <p:txBody>
          <a:bodyPr spcFirstLastPara="1" wrap="square" lIns="91425" tIns="91425" rIns="91425" bIns="91425" anchor="t" anchorCtr="0">
            <a:normAutofit/>
          </a:bodyPr>
          <a:lstStyle/>
          <a:p>
            <a:pPr marL="457200" lvl="0" indent="-317500" algn="l" rtl="0">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Created a grouped field for Property Type to simplify analysis</a:t>
            </a:r>
            <a:endParaRPr sz="1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14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sz="1400">
              <a:solidFill>
                <a:schemeClr val="dk1"/>
              </a:solidFill>
              <a:latin typeface="Times New Roman"/>
              <a:ea typeface="Times New Roman"/>
              <a:cs typeface="Times New Roman"/>
              <a:sym typeface="Times New Roman"/>
            </a:endParaRPr>
          </a:p>
        </p:txBody>
      </p:sp>
      <p:pic>
        <p:nvPicPr>
          <p:cNvPr id="69" name="Google Shape;69;p15"/>
          <p:cNvPicPr preferRelativeResize="0"/>
          <p:nvPr/>
        </p:nvPicPr>
        <p:blipFill>
          <a:blip r:embed="rId3">
            <a:alphaModFix/>
          </a:blip>
          <a:stretch>
            <a:fillRect/>
          </a:stretch>
        </p:blipFill>
        <p:spPr>
          <a:xfrm>
            <a:off x="3067575" y="2226375"/>
            <a:ext cx="1440475" cy="1000100"/>
          </a:xfrm>
          <a:prstGeom prst="rect">
            <a:avLst/>
          </a:prstGeom>
          <a:noFill/>
          <a:ln>
            <a:noFill/>
          </a:ln>
        </p:spPr>
      </p:pic>
      <p:pic>
        <p:nvPicPr>
          <p:cNvPr id="70" name="Google Shape;70;p15"/>
          <p:cNvPicPr preferRelativeResize="0"/>
          <p:nvPr/>
        </p:nvPicPr>
        <p:blipFill>
          <a:blip r:embed="rId4">
            <a:alphaModFix/>
          </a:blip>
          <a:stretch>
            <a:fillRect/>
          </a:stretch>
        </p:blipFill>
        <p:spPr>
          <a:xfrm>
            <a:off x="656475" y="1608550"/>
            <a:ext cx="1159000" cy="3152524"/>
          </a:xfrm>
          <a:prstGeom prst="rect">
            <a:avLst/>
          </a:prstGeom>
          <a:noFill/>
          <a:ln>
            <a:noFill/>
          </a:ln>
        </p:spPr>
      </p:pic>
      <p:sp>
        <p:nvSpPr>
          <p:cNvPr id="71" name="Google Shape;71;p15"/>
          <p:cNvSpPr/>
          <p:nvPr/>
        </p:nvSpPr>
        <p:spPr>
          <a:xfrm>
            <a:off x="2049575" y="2571750"/>
            <a:ext cx="783900" cy="2613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 name="Google Shape;72;p15"/>
          <p:cNvSpPr txBox="1"/>
          <p:nvPr/>
        </p:nvSpPr>
        <p:spPr>
          <a:xfrm>
            <a:off x="4799600" y="1017725"/>
            <a:ext cx="4136100" cy="648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20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Filtered out NAs in numbers of bedrooms, bathrooms, Property Type, Tenure</a:t>
            </a:r>
            <a:endParaRPr>
              <a:solidFill>
                <a:schemeClr val="dk1"/>
              </a:solidFill>
              <a:latin typeface="Times New Roman"/>
              <a:ea typeface="Times New Roman"/>
              <a:cs typeface="Times New Roman"/>
              <a:sym typeface="Times New Roman"/>
            </a:endParaRPr>
          </a:p>
        </p:txBody>
      </p:sp>
      <p:pic>
        <p:nvPicPr>
          <p:cNvPr id="73" name="Google Shape;73;p15"/>
          <p:cNvPicPr preferRelativeResize="0"/>
          <p:nvPr/>
        </p:nvPicPr>
        <p:blipFill>
          <a:blip r:embed="rId5">
            <a:alphaModFix/>
          </a:blip>
          <a:stretch>
            <a:fillRect/>
          </a:stretch>
        </p:blipFill>
        <p:spPr>
          <a:xfrm>
            <a:off x="5148463" y="1943550"/>
            <a:ext cx="3438375" cy="24825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200"/>
              </a:spcAft>
              <a:buNone/>
            </a:pPr>
            <a:r>
              <a:rPr lang="en" b="1">
                <a:latin typeface="Times New Roman"/>
                <a:ea typeface="Times New Roman"/>
                <a:cs typeface="Times New Roman"/>
                <a:sym typeface="Times New Roman"/>
              </a:rPr>
              <a:t>Visualization 1 - Historical Price Change Over Time</a:t>
            </a:r>
            <a:endParaRPr/>
          </a:p>
        </p:txBody>
      </p:sp>
      <p:sp>
        <p:nvSpPr>
          <p:cNvPr id="79" name="Google Shape;79;p16"/>
          <p:cNvSpPr txBox="1">
            <a:spLocks noGrp="1"/>
          </p:cNvSpPr>
          <p:nvPr>
            <p:ph type="body" idx="1"/>
          </p:nvPr>
        </p:nvSpPr>
        <p:spPr>
          <a:xfrm>
            <a:off x="311700" y="1152475"/>
            <a:ext cx="4300200" cy="3768000"/>
          </a:xfrm>
          <a:prstGeom prst="rect">
            <a:avLst/>
          </a:prstGeom>
        </p:spPr>
        <p:txBody>
          <a:bodyPr spcFirstLastPara="1" wrap="square" lIns="91425" tIns="91425" rIns="91425" bIns="91425" anchor="t" anchorCtr="0">
            <a:noAutofit/>
          </a:bodyPr>
          <a:lstStyle/>
          <a:p>
            <a:pPr marL="457200" lvl="0" indent="-305435" algn="l" rtl="0">
              <a:lnSpc>
                <a:spcPct val="105000"/>
              </a:lnSpc>
              <a:spcBef>
                <a:spcPts val="1200"/>
              </a:spcBef>
              <a:spcAft>
                <a:spcPts val="0"/>
              </a:spcAft>
              <a:buClr>
                <a:schemeClr val="dk1"/>
              </a:buClr>
              <a:buSzPts val="1210"/>
              <a:buChar char="●"/>
            </a:pPr>
            <a:r>
              <a:rPr lang="en" sz="1210" b="1">
                <a:solidFill>
                  <a:schemeClr val="dk1"/>
                </a:solidFill>
                <a:latin typeface="Times New Roman"/>
                <a:ea typeface="Times New Roman"/>
                <a:cs typeface="Times New Roman"/>
                <a:sym typeface="Times New Roman"/>
              </a:rPr>
              <a:t>What is Visualized?</a:t>
            </a:r>
            <a:r>
              <a:rPr lang="en" sz="1210">
                <a:solidFill>
                  <a:schemeClr val="dk1"/>
                </a:solidFill>
                <a:latin typeface="Times New Roman"/>
                <a:ea typeface="Times New Roman"/>
                <a:cs typeface="Times New Roman"/>
                <a:sym typeface="Times New Roman"/>
              </a:rPr>
              <a:t>: Line chart showing the average historical property prices over time for different type of property.</a:t>
            </a:r>
            <a:endParaRPr sz="1210">
              <a:solidFill>
                <a:schemeClr val="dk1"/>
              </a:solidFill>
              <a:latin typeface="Times New Roman"/>
              <a:ea typeface="Times New Roman"/>
              <a:cs typeface="Times New Roman"/>
              <a:sym typeface="Times New Roman"/>
            </a:endParaRPr>
          </a:p>
          <a:p>
            <a:pPr marL="457200" lvl="0" indent="-305435" algn="l" rtl="0">
              <a:lnSpc>
                <a:spcPct val="105000"/>
              </a:lnSpc>
              <a:spcBef>
                <a:spcPts val="0"/>
              </a:spcBef>
              <a:spcAft>
                <a:spcPts val="0"/>
              </a:spcAft>
              <a:buClr>
                <a:schemeClr val="dk1"/>
              </a:buClr>
              <a:buSzPts val="1210"/>
              <a:buChar char="●"/>
            </a:pPr>
            <a:r>
              <a:rPr lang="en" sz="1210" b="1">
                <a:solidFill>
                  <a:schemeClr val="dk1"/>
                </a:solidFill>
                <a:latin typeface="Times New Roman"/>
                <a:ea typeface="Times New Roman"/>
                <a:cs typeface="Times New Roman"/>
                <a:sym typeface="Times New Roman"/>
              </a:rPr>
              <a:t>Question Being Asked</a:t>
            </a:r>
            <a:r>
              <a:rPr lang="en" sz="1210">
                <a:solidFill>
                  <a:schemeClr val="dk1"/>
                </a:solidFill>
                <a:latin typeface="Times New Roman"/>
                <a:ea typeface="Times New Roman"/>
                <a:cs typeface="Times New Roman"/>
                <a:sym typeface="Times New Roman"/>
              </a:rPr>
              <a:t>: How have property prices changed over the years across different property types?</a:t>
            </a:r>
            <a:endParaRPr sz="1210">
              <a:solidFill>
                <a:schemeClr val="dk1"/>
              </a:solidFill>
              <a:latin typeface="Times New Roman"/>
              <a:ea typeface="Times New Roman"/>
              <a:cs typeface="Times New Roman"/>
              <a:sym typeface="Times New Roman"/>
            </a:endParaRPr>
          </a:p>
          <a:p>
            <a:pPr marL="0" lvl="0" indent="0" algn="l" rtl="0">
              <a:lnSpc>
                <a:spcPct val="105000"/>
              </a:lnSpc>
              <a:spcBef>
                <a:spcPts val="1200"/>
              </a:spcBef>
              <a:spcAft>
                <a:spcPts val="0"/>
              </a:spcAft>
              <a:buSzPts val="1018"/>
              <a:buNone/>
            </a:pPr>
            <a:r>
              <a:rPr lang="en" sz="1210">
                <a:solidFill>
                  <a:schemeClr val="dk1"/>
                </a:solidFill>
                <a:latin typeface="Times New Roman"/>
                <a:ea typeface="Times New Roman"/>
                <a:cs typeface="Times New Roman"/>
                <a:sym typeface="Times New Roman"/>
              </a:rPr>
              <a:t>The visualization highlights </a:t>
            </a:r>
            <a:r>
              <a:rPr lang="en" sz="1210" b="1">
                <a:solidFill>
                  <a:schemeClr val="dk1"/>
                </a:solidFill>
                <a:latin typeface="Times New Roman"/>
                <a:ea typeface="Times New Roman"/>
                <a:cs typeface="Times New Roman"/>
                <a:sym typeface="Times New Roman"/>
              </a:rPr>
              <a:t>consistent increases in average property prices</a:t>
            </a:r>
            <a:r>
              <a:rPr lang="en" sz="1210">
                <a:solidFill>
                  <a:schemeClr val="dk1"/>
                </a:solidFill>
                <a:latin typeface="Times New Roman"/>
                <a:ea typeface="Times New Roman"/>
                <a:cs typeface="Times New Roman"/>
                <a:sym typeface="Times New Roman"/>
              </a:rPr>
              <a:t> over time, with Detached properties showing the steepest rise, especially around 2017-2018 and 2020-2023. </a:t>
            </a:r>
            <a:endParaRPr sz="1210">
              <a:solidFill>
                <a:schemeClr val="dk1"/>
              </a:solidFill>
              <a:latin typeface="Times New Roman"/>
              <a:ea typeface="Times New Roman"/>
              <a:cs typeface="Times New Roman"/>
              <a:sym typeface="Times New Roman"/>
            </a:endParaRPr>
          </a:p>
          <a:p>
            <a:pPr marL="0" lvl="0" indent="0" algn="l" rtl="0">
              <a:lnSpc>
                <a:spcPct val="105000"/>
              </a:lnSpc>
              <a:spcBef>
                <a:spcPts val="1200"/>
              </a:spcBef>
              <a:spcAft>
                <a:spcPts val="0"/>
              </a:spcAft>
              <a:buSzPts val="1018"/>
              <a:buNone/>
            </a:pPr>
            <a:r>
              <a:rPr lang="en" sz="1210">
                <a:solidFill>
                  <a:schemeClr val="dk1"/>
                </a:solidFill>
                <a:latin typeface="Times New Roman"/>
                <a:ea typeface="Times New Roman"/>
                <a:cs typeface="Times New Roman"/>
                <a:sym typeface="Times New Roman"/>
              </a:rPr>
              <a:t>Flats/Maisonettes, Semi-Detached, and Terraced properties also show an upward trend but at a slower rate compared to Detached properties. </a:t>
            </a:r>
            <a:endParaRPr sz="1210">
              <a:solidFill>
                <a:schemeClr val="dk1"/>
              </a:solidFill>
              <a:latin typeface="Times New Roman"/>
              <a:ea typeface="Times New Roman"/>
              <a:cs typeface="Times New Roman"/>
              <a:sym typeface="Times New Roman"/>
            </a:endParaRPr>
          </a:p>
          <a:p>
            <a:pPr marL="0" lvl="0" indent="0" algn="l" rtl="0">
              <a:lnSpc>
                <a:spcPct val="105000"/>
              </a:lnSpc>
              <a:spcBef>
                <a:spcPts val="1200"/>
              </a:spcBef>
              <a:spcAft>
                <a:spcPts val="1200"/>
              </a:spcAft>
              <a:buSzPts val="1018"/>
              <a:buNone/>
            </a:pPr>
            <a:r>
              <a:rPr lang="en" sz="1210" b="1">
                <a:solidFill>
                  <a:schemeClr val="dk1"/>
                </a:solidFill>
                <a:latin typeface="Times New Roman"/>
                <a:ea typeface="Times New Roman"/>
                <a:cs typeface="Times New Roman"/>
                <a:sym typeface="Times New Roman"/>
              </a:rPr>
              <a:t>Flats/Maisonettes appear to have lost some of their value since 2018</a:t>
            </a:r>
            <a:r>
              <a:rPr lang="en" sz="1210">
                <a:solidFill>
                  <a:schemeClr val="dk1"/>
                </a:solidFill>
                <a:latin typeface="Times New Roman"/>
                <a:ea typeface="Times New Roman"/>
                <a:cs typeface="Times New Roman"/>
                <a:sym typeface="Times New Roman"/>
              </a:rPr>
              <a:t>, maybe due to changing lifestyle needs, economic factors, or a supply-demand imbalance.</a:t>
            </a:r>
            <a:endParaRPr sz="1210">
              <a:solidFill>
                <a:schemeClr val="dk1"/>
              </a:solidFill>
              <a:latin typeface="Times New Roman"/>
              <a:ea typeface="Times New Roman"/>
              <a:cs typeface="Times New Roman"/>
              <a:sym typeface="Times New Roman"/>
            </a:endParaRPr>
          </a:p>
        </p:txBody>
      </p:sp>
      <p:pic>
        <p:nvPicPr>
          <p:cNvPr id="80" name="Google Shape;80;p16"/>
          <p:cNvPicPr preferRelativeResize="0"/>
          <p:nvPr/>
        </p:nvPicPr>
        <p:blipFill>
          <a:blip r:embed="rId3">
            <a:alphaModFix/>
          </a:blip>
          <a:stretch>
            <a:fillRect/>
          </a:stretch>
        </p:blipFill>
        <p:spPr>
          <a:xfrm>
            <a:off x="4724400" y="1170125"/>
            <a:ext cx="3863172" cy="382097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251900"/>
            <a:ext cx="85443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latin typeface="Times New Roman"/>
                <a:ea typeface="Times New Roman"/>
                <a:cs typeface="Times New Roman"/>
                <a:sym typeface="Times New Roman"/>
              </a:rPr>
              <a:t>Visualization 2 - Historical Price by Tenure</a:t>
            </a:r>
            <a:endParaRPr/>
          </a:p>
        </p:txBody>
      </p:sp>
      <p:sp>
        <p:nvSpPr>
          <p:cNvPr id="86" name="Google Shape;86;p17"/>
          <p:cNvSpPr txBox="1">
            <a:spLocks noGrp="1"/>
          </p:cNvSpPr>
          <p:nvPr>
            <p:ph type="body" idx="1"/>
          </p:nvPr>
        </p:nvSpPr>
        <p:spPr>
          <a:xfrm>
            <a:off x="311700" y="873775"/>
            <a:ext cx="4356300" cy="4017600"/>
          </a:xfrm>
          <a:prstGeom prst="rect">
            <a:avLst/>
          </a:prstGeom>
        </p:spPr>
        <p:txBody>
          <a:bodyPr spcFirstLastPara="1" wrap="square" lIns="91425" tIns="91425" rIns="91425" bIns="91425" anchor="t" anchorCtr="0">
            <a:noAutofit/>
          </a:bodyPr>
          <a:lstStyle/>
          <a:p>
            <a:pPr marL="457200" lvl="0" indent="-304800" algn="l" rtl="0">
              <a:spcBef>
                <a:spcPts val="1200"/>
              </a:spcBef>
              <a:spcAft>
                <a:spcPts val="0"/>
              </a:spcAft>
              <a:buClr>
                <a:schemeClr val="dk1"/>
              </a:buClr>
              <a:buSzPts val="1200"/>
              <a:buChar char="●"/>
            </a:pPr>
            <a:r>
              <a:rPr lang="en" sz="1200" b="1">
                <a:solidFill>
                  <a:schemeClr val="dk1"/>
                </a:solidFill>
                <a:latin typeface="Times New Roman"/>
                <a:ea typeface="Times New Roman"/>
                <a:cs typeface="Times New Roman"/>
                <a:sym typeface="Times New Roman"/>
              </a:rPr>
              <a:t>What is Visualized?</a:t>
            </a:r>
            <a:r>
              <a:rPr lang="en" sz="1200">
                <a:solidFill>
                  <a:schemeClr val="dk1"/>
                </a:solidFill>
                <a:latin typeface="Times New Roman"/>
                <a:ea typeface="Times New Roman"/>
                <a:cs typeface="Times New Roman"/>
                <a:sym typeface="Times New Roman"/>
              </a:rPr>
              <a:t>: Stacked bar chart showing the average historical property prices by different tenures, with details about property types within each tenure.</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Char char="●"/>
            </a:pPr>
            <a:r>
              <a:rPr lang="en" sz="1200" b="1">
                <a:solidFill>
                  <a:schemeClr val="dk1"/>
                </a:solidFill>
                <a:latin typeface="Times New Roman"/>
                <a:ea typeface="Times New Roman"/>
                <a:cs typeface="Times New Roman"/>
                <a:sym typeface="Times New Roman"/>
              </a:rPr>
              <a:t>Question Being Asked</a:t>
            </a:r>
            <a:r>
              <a:rPr lang="en" sz="1200">
                <a:solidFill>
                  <a:schemeClr val="dk1"/>
                </a:solidFill>
                <a:latin typeface="Times New Roman"/>
                <a:ea typeface="Times New Roman"/>
                <a:cs typeface="Times New Roman"/>
                <a:sym typeface="Times New Roman"/>
              </a:rPr>
              <a:t>: How do property prices vary by tenure type?</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Freehold properties</a:t>
            </a:r>
            <a:r>
              <a:rPr lang="en" sz="1200">
                <a:solidFill>
                  <a:schemeClr val="dk1"/>
                </a:solidFill>
                <a:latin typeface="Times New Roman"/>
                <a:ea typeface="Times New Roman"/>
                <a:cs typeface="Times New Roman"/>
                <a:sym typeface="Times New Roman"/>
              </a:rPr>
              <a:t> tend to be the most valuable, which could be due to their ownership structure that gives the buyer full ownership of both the property and the land.</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a:solidFill>
                  <a:schemeClr val="dk1"/>
                </a:solidFill>
                <a:latin typeface="Times New Roman"/>
                <a:ea typeface="Times New Roman"/>
                <a:cs typeface="Times New Roman"/>
                <a:sym typeface="Times New Roman"/>
              </a:rPr>
              <a:t>The dominance of </a:t>
            </a:r>
            <a:r>
              <a:rPr lang="en" sz="1200" b="1">
                <a:solidFill>
                  <a:schemeClr val="dk1"/>
                </a:solidFill>
                <a:latin typeface="Times New Roman"/>
                <a:ea typeface="Times New Roman"/>
                <a:cs typeface="Times New Roman"/>
                <a:sym typeface="Times New Roman"/>
              </a:rPr>
              <a:t>Detached</a:t>
            </a:r>
            <a:r>
              <a:rPr lang="en" sz="1200">
                <a:solidFill>
                  <a:schemeClr val="dk1"/>
                </a:solidFill>
                <a:latin typeface="Times New Roman"/>
                <a:ea typeface="Times New Roman"/>
                <a:cs typeface="Times New Roman"/>
                <a:sym typeface="Times New Roman"/>
              </a:rPr>
              <a:t> properties in terms of average price indicates that they are typically the most valuable property type, contributing significantly to the overall value in each tenure.</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b="1">
                <a:solidFill>
                  <a:schemeClr val="dk1"/>
                </a:solidFill>
                <a:latin typeface="Times New Roman"/>
                <a:ea typeface="Times New Roman"/>
                <a:cs typeface="Times New Roman"/>
                <a:sym typeface="Times New Roman"/>
              </a:rPr>
              <a:t>Feudal and Shared tenures</a:t>
            </a:r>
            <a:r>
              <a:rPr lang="en" sz="1200">
                <a:solidFill>
                  <a:schemeClr val="dk1"/>
                </a:solidFill>
                <a:latin typeface="Times New Roman"/>
                <a:ea typeface="Times New Roman"/>
                <a:cs typeface="Times New Roman"/>
                <a:sym typeface="Times New Roman"/>
              </a:rPr>
              <a:t> have lower average prices. This may be due to feudal properties having historical ties and restrictions, often including obligations or limited rights, while shared tenures involve co-ownership, which can make them less attractive. </a:t>
            </a:r>
            <a:endParaRPr sz="1200">
              <a:solidFill>
                <a:schemeClr val="dk1"/>
              </a:solidFill>
              <a:latin typeface="Times New Roman"/>
              <a:ea typeface="Times New Roman"/>
              <a:cs typeface="Times New Roman"/>
              <a:sym typeface="Times New Roman"/>
            </a:endParaRPr>
          </a:p>
        </p:txBody>
      </p:sp>
      <p:pic>
        <p:nvPicPr>
          <p:cNvPr id="87" name="Google Shape;87;p17"/>
          <p:cNvPicPr preferRelativeResize="0"/>
          <p:nvPr/>
        </p:nvPicPr>
        <p:blipFill>
          <a:blip r:embed="rId3">
            <a:alphaModFix/>
          </a:blip>
          <a:stretch>
            <a:fillRect/>
          </a:stretch>
        </p:blipFill>
        <p:spPr>
          <a:xfrm>
            <a:off x="4724400" y="1372425"/>
            <a:ext cx="4267197" cy="313789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latin typeface="Times New Roman"/>
                <a:ea typeface="Times New Roman"/>
                <a:cs typeface="Times New Roman"/>
                <a:sym typeface="Times New Roman"/>
              </a:rPr>
              <a:t>Visualization 3 - How Current Price affect by Energe Rate?</a:t>
            </a:r>
            <a:r>
              <a:rPr lang="en"/>
              <a:t> </a:t>
            </a:r>
            <a:endParaRPr/>
          </a:p>
        </p:txBody>
      </p:sp>
      <p:sp>
        <p:nvSpPr>
          <p:cNvPr id="93" name="Google Shape;93;p18"/>
          <p:cNvSpPr txBox="1">
            <a:spLocks noGrp="1"/>
          </p:cNvSpPr>
          <p:nvPr>
            <p:ph type="body" idx="1"/>
          </p:nvPr>
        </p:nvSpPr>
        <p:spPr>
          <a:xfrm>
            <a:off x="311700" y="1152475"/>
            <a:ext cx="4260300" cy="3761700"/>
          </a:xfrm>
          <a:prstGeom prst="rect">
            <a:avLst/>
          </a:prstGeom>
        </p:spPr>
        <p:txBody>
          <a:bodyPr spcFirstLastPara="1" wrap="square" lIns="91425" tIns="91425" rIns="91425" bIns="91425" anchor="t" anchorCtr="0">
            <a:noAutofit/>
          </a:bodyPr>
          <a:lstStyle/>
          <a:p>
            <a:pPr marL="457200" lvl="0" indent="-304800" algn="l" rtl="0">
              <a:spcBef>
                <a:spcPts val="1200"/>
              </a:spcBef>
              <a:spcAft>
                <a:spcPts val="0"/>
              </a:spcAft>
              <a:buClr>
                <a:schemeClr val="dk1"/>
              </a:buClr>
              <a:buSzPts val="1200"/>
              <a:buChar char="●"/>
            </a:pPr>
            <a:r>
              <a:rPr lang="en" sz="1200" b="1">
                <a:solidFill>
                  <a:schemeClr val="dk1"/>
                </a:solidFill>
                <a:latin typeface="Times New Roman"/>
                <a:ea typeface="Times New Roman"/>
                <a:cs typeface="Times New Roman"/>
                <a:sym typeface="Times New Roman"/>
              </a:rPr>
              <a:t>What is Visualized?</a:t>
            </a:r>
            <a:r>
              <a:rPr lang="en" sz="1200">
                <a:solidFill>
                  <a:schemeClr val="dk1"/>
                </a:solidFill>
                <a:latin typeface="Times New Roman"/>
                <a:ea typeface="Times New Roman"/>
                <a:cs typeface="Times New Roman"/>
                <a:sym typeface="Times New Roman"/>
              </a:rPr>
              <a:t>: This bar chart shows the average sale price estimate for properties based on their energy rating (ranging from A to G) and excludes properties with Null energy ratings.</a:t>
            </a:r>
            <a:endParaRPr sz="1200">
              <a:solidFill>
                <a:schemeClr val="dk1"/>
              </a:solidFill>
              <a:latin typeface="Times New Roman"/>
              <a:ea typeface="Times New Roman"/>
              <a:cs typeface="Times New Roman"/>
              <a:sym typeface="Times New Roman"/>
            </a:endParaRPr>
          </a:p>
          <a:p>
            <a:pPr marL="457200" lvl="0" indent="-298450" algn="l" rtl="0">
              <a:spcBef>
                <a:spcPts val="0"/>
              </a:spcBef>
              <a:spcAft>
                <a:spcPts val="0"/>
              </a:spcAft>
              <a:buClr>
                <a:schemeClr val="dk1"/>
              </a:buClr>
              <a:buSzPts val="1100"/>
              <a:buChar char="●"/>
            </a:pPr>
            <a:r>
              <a:rPr lang="en" sz="1200" b="1">
                <a:solidFill>
                  <a:schemeClr val="dk1"/>
                </a:solidFill>
                <a:latin typeface="Times New Roman"/>
                <a:ea typeface="Times New Roman"/>
                <a:cs typeface="Times New Roman"/>
                <a:sym typeface="Times New Roman"/>
              </a:rPr>
              <a:t>Question Being Asked</a:t>
            </a:r>
            <a:r>
              <a:rPr lang="en" sz="1200">
                <a:solidFill>
                  <a:schemeClr val="dk1"/>
                </a:solidFill>
                <a:latin typeface="Times New Roman"/>
                <a:ea typeface="Times New Roman"/>
                <a:cs typeface="Times New Roman"/>
                <a:sym typeface="Times New Roman"/>
              </a:rPr>
              <a:t>: How do property current prices vary by </a:t>
            </a:r>
            <a:r>
              <a:rPr lang="en" sz="1150">
                <a:solidFill>
                  <a:srgbClr val="3C4043"/>
                </a:solidFill>
                <a:highlight>
                  <a:srgbClr val="FFFFFF"/>
                </a:highlight>
                <a:latin typeface="Times New Roman"/>
                <a:ea typeface="Times New Roman"/>
                <a:cs typeface="Times New Roman"/>
                <a:sym typeface="Times New Roman"/>
              </a:rPr>
              <a:t>current energy rating</a:t>
            </a:r>
            <a:r>
              <a:rPr lang="en" sz="1200">
                <a:solidFill>
                  <a:schemeClr val="dk1"/>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Energy-efficient properties (A) have a higher market value</a:t>
            </a:r>
            <a:r>
              <a:rPr lang="en" sz="1200">
                <a:solidFill>
                  <a:schemeClr val="dk1"/>
                </a:solidFill>
                <a:latin typeface="Times New Roman"/>
                <a:ea typeface="Times New Roman"/>
                <a:cs typeface="Times New Roman"/>
                <a:sym typeface="Times New Roman"/>
              </a:rPr>
              <a:t>, suggesting an increasing buyer interest in sustainability and potential lower operational costs.</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chemeClr val="dk1"/>
                </a:solidFill>
                <a:latin typeface="Times New Roman"/>
                <a:ea typeface="Times New Roman"/>
                <a:cs typeface="Times New Roman"/>
                <a:sym typeface="Times New Roman"/>
              </a:rPr>
              <a:t>The lower average price of properties with ratings B and C</a:t>
            </a:r>
            <a:r>
              <a:rPr lang="en" sz="1200">
                <a:solidFill>
                  <a:schemeClr val="dk1"/>
                </a:solidFill>
                <a:latin typeface="Times New Roman"/>
                <a:ea typeface="Times New Roman"/>
                <a:cs typeface="Times New Roman"/>
                <a:sym typeface="Times New Roman"/>
              </a:rPr>
              <a:t> could imply opportunities for upgrades that improve energy efficiency, potentially raising property values.</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en" sz="1200" b="1">
                <a:solidFill>
                  <a:schemeClr val="dk1"/>
                </a:solidFill>
                <a:latin typeface="Times New Roman"/>
                <a:ea typeface="Times New Roman"/>
                <a:cs typeface="Times New Roman"/>
                <a:sym typeface="Times New Roman"/>
              </a:rPr>
              <a:t>There is nothing indicated that an increase in energy efficiency lead to a increase in average current sale price. </a:t>
            </a:r>
            <a:endParaRPr sz="1200" b="1">
              <a:solidFill>
                <a:schemeClr val="dk1"/>
              </a:solidFill>
              <a:latin typeface="Times New Roman"/>
              <a:ea typeface="Times New Roman"/>
              <a:cs typeface="Times New Roman"/>
              <a:sym typeface="Times New Roman"/>
            </a:endParaRPr>
          </a:p>
        </p:txBody>
      </p:sp>
      <p:pic>
        <p:nvPicPr>
          <p:cNvPr id="94" name="Google Shape;94;p18"/>
          <p:cNvPicPr preferRelativeResize="0"/>
          <p:nvPr/>
        </p:nvPicPr>
        <p:blipFill>
          <a:blip r:embed="rId3">
            <a:alphaModFix/>
          </a:blip>
          <a:stretch>
            <a:fillRect/>
          </a:stretch>
        </p:blipFill>
        <p:spPr>
          <a:xfrm>
            <a:off x="4739725" y="1330275"/>
            <a:ext cx="4260301" cy="30412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latin typeface="Times New Roman"/>
                <a:ea typeface="Times New Roman"/>
                <a:cs typeface="Times New Roman"/>
                <a:sym typeface="Times New Roman"/>
              </a:rPr>
              <a:t>Visualization 4 - Influence of Bedrooms and Bathrooms on Historical Prices</a:t>
            </a:r>
            <a:endParaRPr/>
          </a:p>
        </p:txBody>
      </p:sp>
      <p:sp>
        <p:nvSpPr>
          <p:cNvPr id="100" name="Google Shape;100;p19"/>
          <p:cNvSpPr txBox="1">
            <a:spLocks noGrp="1"/>
          </p:cNvSpPr>
          <p:nvPr>
            <p:ph type="body" idx="1"/>
          </p:nvPr>
        </p:nvSpPr>
        <p:spPr>
          <a:xfrm>
            <a:off x="182625" y="1166150"/>
            <a:ext cx="3410400" cy="2978100"/>
          </a:xfrm>
          <a:prstGeom prst="rect">
            <a:avLst/>
          </a:prstGeom>
        </p:spPr>
        <p:txBody>
          <a:bodyPr spcFirstLastPara="1" wrap="square" lIns="91425" tIns="91425" rIns="91425" bIns="91425" anchor="t" anchorCtr="0">
            <a:normAutofit/>
          </a:bodyPr>
          <a:lstStyle/>
          <a:p>
            <a:pPr marL="457200" lvl="0" indent="-304800" algn="l" rtl="0">
              <a:lnSpc>
                <a:spcPct val="115000"/>
              </a:lnSpc>
              <a:spcBef>
                <a:spcPts val="0"/>
              </a:spcBef>
              <a:spcAft>
                <a:spcPts val="0"/>
              </a:spcAft>
              <a:buClr>
                <a:schemeClr val="dk1"/>
              </a:buClr>
              <a:buSzPts val="1200"/>
              <a:buFont typeface="Times New Roman"/>
              <a:buChar char="●"/>
            </a:pPr>
            <a:r>
              <a:rPr lang="en" sz="1200" b="1">
                <a:solidFill>
                  <a:schemeClr val="dk1"/>
                </a:solidFill>
                <a:latin typeface="Times New Roman"/>
                <a:ea typeface="Times New Roman"/>
                <a:cs typeface="Times New Roman"/>
                <a:sym typeface="Times New Roman"/>
              </a:rPr>
              <a:t>What is Visualized?: </a:t>
            </a:r>
            <a:r>
              <a:rPr lang="en" sz="1200">
                <a:solidFill>
                  <a:schemeClr val="dk1"/>
                </a:solidFill>
                <a:latin typeface="Times New Roman"/>
                <a:ea typeface="Times New Roman"/>
                <a:cs typeface="Times New Roman"/>
                <a:sym typeface="Times New Roman"/>
              </a:rPr>
              <a:t>This stacked bar chart shows the average property prices, stacked by the number of bathrooms, for each count of bedrooms. Each bar represents a different bedroom count, with segments in each bar indicating the varying number of bathrooms.</a:t>
            </a:r>
            <a:endParaRPr sz="1200">
              <a:solidFill>
                <a:schemeClr val="dk1"/>
              </a:solidFill>
              <a:latin typeface="Times New Roman"/>
              <a:ea typeface="Times New Roman"/>
              <a:cs typeface="Times New Roman"/>
              <a:sym typeface="Times New Roman"/>
            </a:endParaRPr>
          </a:p>
          <a:p>
            <a:pPr marL="457200" lvl="0" indent="-304800" algn="l" rtl="0">
              <a:lnSpc>
                <a:spcPct val="115000"/>
              </a:lnSpc>
              <a:spcBef>
                <a:spcPts val="0"/>
              </a:spcBef>
              <a:spcAft>
                <a:spcPts val="0"/>
              </a:spcAft>
              <a:buClr>
                <a:schemeClr val="dk1"/>
              </a:buClr>
              <a:buSzPts val="1200"/>
              <a:buFont typeface="Times New Roman"/>
              <a:buChar char="●"/>
            </a:pPr>
            <a:r>
              <a:rPr lang="en" sz="1200" b="1">
                <a:solidFill>
                  <a:schemeClr val="dk1"/>
                </a:solidFill>
                <a:latin typeface="Times New Roman"/>
                <a:ea typeface="Times New Roman"/>
                <a:cs typeface="Times New Roman"/>
                <a:sym typeface="Times New Roman"/>
              </a:rPr>
              <a:t>Question Being Asked: </a:t>
            </a:r>
            <a:r>
              <a:rPr lang="en" sz="1200">
                <a:solidFill>
                  <a:schemeClr val="dk1"/>
                </a:solidFill>
                <a:latin typeface="Times New Roman"/>
                <a:ea typeface="Times New Roman"/>
                <a:cs typeface="Times New Roman"/>
                <a:sym typeface="Times New Roman"/>
              </a:rPr>
              <a:t>How do the number of bedrooms and bathrooms influence the average price of properties?</a:t>
            </a:r>
            <a:endParaRPr sz="1200">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sz="1200" b="1">
                <a:solidFill>
                  <a:schemeClr val="dk1"/>
                </a:solidFill>
                <a:latin typeface="Times New Roman"/>
                <a:ea typeface="Times New Roman"/>
                <a:cs typeface="Times New Roman"/>
                <a:sym typeface="Times New Roman"/>
              </a:rPr>
              <a:t>Impact of Bedrooms:</a:t>
            </a:r>
            <a:r>
              <a:rPr lang="en" sz="1200">
                <a:solidFill>
                  <a:schemeClr val="dk1"/>
                </a:solidFill>
                <a:latin typeface="Times New Roman"/>
                <a:ea typeface="Times New Roman"/>
                <a:cs typeface="Times New Roman"/>
                <a:sym typeface="Times New Roman"/>
              </a:rPr>
              <a:t> Increasing the number of bedrooms generally leads to higher property prices. </a:t>
            </a:r>
            <a:endParaRPr sz="1200">
              <a:solidFill>
                <a:schemeClr val="dk1"/>
              </a:solidFill>
              <a:latin typeface="Times New Roman"/>
              <a:ea typeface="Times New Roman"/>
              <a:cs typeface="Times New Roman"/>
              <a:sym typeface="Times New Roman"/>
            </a:endParaRPr>
          </a:p>
        </p:txBody>
      </p:sp>
      <p:pic>
        <p:nvPicPr>
          <p:cNvPr id="101" name="Google Shape;101;p19"/>
          <p:cNvPicPr preferRelativeResize="0"/>
          <p:nvPr/>
        </p:nvPicPr>
        <p:blipFill>
          <a:blip r:embed="rId3">
            <a:alphaModFix/>
          </a:blip>
          <a:stretch>
            <a:fillRect/>
          </a:stretch>
        </p:blipFill>
        <p:spPr>
          <a:xfrm>
            <a:off x="3593025" y="614025"/>
            <a:ext cx="5550977" cy="3349626"/>
          </a:xfrm>
          <a:prstGeom prst="rect">
            <a:avLst/>
          </a:prstGeom>
          <a:noFill/>
          <a:ln>
            <a:noFill/>
          </a:ln>
        </p:spPr>
      </p:pic>
      <p:sp>
        <p:nvSpPr>
          <p:cNvPr id="102" name="Google Shape;102;p19"/>
          <p:cNvSpPr txBox="1"/>
          <p:nvPr/>
        </p:nvSpPr>
        <p:spPr>
          <a:xfrm>
            <a:off x="182625" y="3896100"/>
            <a:ext cx="8098800" cy="159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en" sz="1200" b="1">
                <a:solidFill>
                  <a:schemeClr val="dk1"/>
                </a:solidFill>
                <a:latin typeface="Times New Roman"/>
                <a:ea typeface="Times New Roman"/>
                <a:cs typeface="Times New Roman"/>
                <a:sym typeface="Times New Roman"/>
              </a:rPr>
              <a:t>Role of Bathrooms in Price Variation:</a:t>
            </a:r>
            <a:r>
              <a:rPr lang="en" sz="1200">
                <a:solidFill>
                  <a:schemeClr val="dk1"/>
                </a:solidFill>
                <a:latin typeface="Times New Roman"/>
                <a:ea typeface="Times New Roman"/>
                <a:cs typeface="Times New Roman"/>
                <a:sym typeface="Times New Roman"/>
              </a:rPr>
              <a:t> Within each bedroom category, the number of bathrooms also affects prices. Properties with more bathrooms tend to be priced higher. This trend is consistent across different bedroom counts, indicating that bathrooms significantly add to property value.  Properties with many bedrooms and several bathrooms show exceptionally high prices, suggesting that such properties are likely to be luxurious and spacious.</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311700" y="2081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a:latin typeface="Times New Roman"/>
                <a:ea typeface="Times New Roman"/>
                <a:cs typeface="Times New Roman"/>
                <a:sym typeface="Times New Roman"/>
              </a:rPr>
              <a:t>Visualization 5 - Average Historical Prices by Postcodes</a:t>
            </a:r>
            <a:endParaRPr/>
          </a:p>
        </p:txBody>
      </p:sp>
      <p:sp>
        <p:nvSpPr>
          <p:cNvPr id="108" name="Google Shape;108;p20"/>
          <p:cNvSpPr txBox="1">
            <a:spLocks noGrp="1"/>
          </p:cNvSpPr>
          <p:nvPr>
            <p:ph type="body" idx="1"/>
          </p:nvPr>
        </p:nvSpPr>
        <p:spPr>
          <a:xfrm>
            <a:off x="311700" y="1152475"/>
            <a:ext cx="2984100" cy="2754900"/>
          </a:xfrm>
          <a:prstGeom prst="rect">
            <a:avLst/>
          </a:prstGeom>
        </p:spPr>
        <p:txBody>
          <a:bodyPr spcFirstLastPara="1" wrap="square" lIns="91425" tIns="91425" rIns="91425" bIns="91425" anchor="t" anchorCtr="0">
            <a:normAutofit/>
          </a:bodyPr>
          <a:lstStyle/>
          <a:p>
            <a:pPr marL="457200" lvl="0" indent="-304800" algn="l" rtl="0">
              <a:spcBef>
                <a:spcPts val="0"/>
              </a:spcBef>
              <a:spcAft>
                <a:spcPts val="0"/>
              </a:spcAft>
              <a:buClr>
                <a:schemeClr val="dk1"/>
              </a:buClr>
              <a:buSzPts val="1200"/>
              <a:buFont typeface="Times New Roman"/>
              <a:buChar char="●"/>
            </a:pPr>
            <a:r>
              <a:rPr lang="en" sz="1200" b="1">
                <a:solidFill>
                  <a:schemeClr val="dk1"/>
                </a:solidFill>
                <a:latin typeface="Times New Roman"/>
                <a:ea typeface="Times New Roman"/>
                <a:cs typeface="Times New Roman"/>
                <a:sym typeface="Times New Roman"/>
              </a:rPr>
              <a:t>What is Visualized?: </a:t>
            </a:r>
            <a:r>
              <a:rPr lang="en" sz="1200">
                <a:solidFill>
                  <a:schemeClr val="dk1"/>
                </a:solidFill>
                <a:latin typeface="Times New Roman"/>
                <a:ea typeface="Times New Roman"/>
                <a:cs typeface="Times New Roman"/>
                <a:sym typeface="Times New Roman"/>
              </a:rPr>
              <a:t>The map provides a heatmap representation of average historic property prices in London. The data is aggregated by postcode areas and overlaid on a geographic map that includes key landmarks and transport routes for context.</a:t>
            </a:r>
            <a:endParaRPr sz="1200">
              <a:solidFill>
                <a:schemeClr val="dk1"/>
              </a:solidFill>
              <a:latin typeface="Times New Roman"/>
              <a:ea typeface="Times New Roman"/>
              <a:cs typeface="Times New Roman"/>
              <a:sym typeface="Times New Roman"/>
            </a:endParaRPr>
          </a:p>
          <a:p>
            <a:pPr marL="457200" lvl="0" indent="-304800" algn="l" rtl="0">
              <a:spcBef>
                <a:spcPts val="0"/>
              </a:spcBef>
              <a:spcAft>
                <a:spcPts val="0"/>
              </a:spcAft>
              <a:buClr>
                <a:schemeClr val="dk1"/>
              </a:buClr>
              <a:buSzPts val="1200"/>
              <a:buFont typeface="Times New Roman"/>
              <a:buChar char="●"/>
            </a:pPr>
            <a:r>
              <a:rPr lang="en" sz="1200" b="1">
                <a:solidFill>
                  <a:schemeClr val="dk1"/>
                </a:solidFill>
                <a:latin typeface="Times New Roman"/>
                <a:ea typeface="Times New Roman"/>
                <a:cs typeface="Times New Roman"/>
                <a:sym typeface="Times New Roman"/>
              </a:rPr>
              <a:t>Question Being Asked: </a:t>
            </a:r>
            <a:r>
              <a:rPr lang="en" sz="1200">
                <a:solidFill>
                  <a:schemeClr val="dk1"/>
                </a:solidFill>
                <a:latin typeface="Times New Roman"/>
                <a:ea typeface="Times New Roman"/>
                <a:cs typeface="Times New Roman"/>
                <a:sym typeface="Times New Roman"/>
              </a:rPr>
              <a:t>How do average property prices vary across different areas of London?</a:t>
            </a:r>
            <a:endParaRPr sz="1200">
              <a:solidFill>
                <a:schemeClr val="dk1"/>
              </a:solidFill>
              <a:latin typeface="Times New Roman"/>
              <a:ea typeface="Times New Roman"/>
              <a:cs typeface="Times New Roman"/>
              <a:sym typeface="Times New Roman"/>
            </a:endParaRPr>
          </a:p>
        </p:txBody>
      </p:sp>
      <p:sp>
        <p:nvSpPr>
          <p:cNvPr id="109" name="Google Shape;109;p20"/>
          <p:cNvSpPr txBox="1"/>
          <p:nvPr/>
        </p:nvSpPr>
        <p:spPr>
          <a:xfrm>
            <a:off x="537300" y="4083650"/>
            <a:ext cx="7586400" cy="10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dk1"/>
                </a:solidFill>
                <a:latin typeface="Times New Roman"/>
                <a:ea typeface="Times New Roman"/>
                <a:cs typeface="Times New Roman"/>
                <a:sym typeface="Times New Roman"/>
              </a:rPr>
              <a:t>Impact of Location on Value:</a:t>
            </a:r>
            <a:r>
              <a:rPr lang="en" sz="1200">
                <a:solidFill>
                  <a:schemeClr val="dk1"/>
                </a:solidFill>
                <a:latin typeface="Times New Roman"/>
                <a:ea typeface="Times New Roman"/>
                <a:cs typeface="Times New Roman"/>
                <a:sym typeface="Times New Roman"/>
              </a:rPr>
              <a:t> The visualization underscores the impact of location on property values. Central areas like Kensington, Chelsea, and parts of Westminster show darker shades, indicating higher prices due to factors like proximity to central business districts, historical significance, and better amenities. This pattern provides insights into the desirability and economic status of different areas.</a:t>
            </a:r>
            <a:endParaRPr sz="1200">
              <a:solidFill>
                <a:schemeClr val="dk1"/>
              </a:solidFill>
              <a:latin typeface="Times New Roman"/>
              <a:ea typeface="Times New Roman"/>
              <a:cs typeface="Times New Roman"/>
              <a:sym typeface="Times New Roman"/>
            </a:endParaRPr>
          </a:p>
        </p:txBody>
      </p:sp>
      <p:pic>
        <p:nvPicPr>
          <p:cNvPr id="110" name="Google Shape;110;p20"/>
          <p:cNvPicPr preferRelativeResize="0"/>
          <p:nvPr/>
        </p:nvPicPr>
        <p:blipFill>
          <a:blip r:embed="rId3">
            <a:alphaModFix/>
          </a:blip>
          <a:stretch>
            <a:fillRect/>
          </a:stretch>
        </p:blipFill>
        <p:spPr>
          <a:xfrm>
            <a:off x="3566625" y="732800"/>
            <a:ext cx="5344650" cy="33508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311700" y="3322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latin typeface="Times New Roman"/>
                <a:ea typeface="Times New Roman"/>
                <a:cs typeface="Times New Roman"/>
                <a:sym typeface="Times New Roman"/>
              </a:rPr>
              <a:t>Next Step Idea</a:t>
            </a:r>
            <a:r>
              <a:rPr lang="en"/>
              <a:t> </a:t>
            </a:r>
            <a:endParaRPr/>
          </a:p>
        </p:txBody>
      </p:sp>
      <p:sp>
        <p:nvSpPr>
          <p:cNvPr id="116" name="Google Shape;116;p21"/>
          <p:cNvSpPr txBox="1">
            <a:spLocks noGrp="1"/>
          </p:cNvSpPr>
          <p:nvPr>
            <p:ph type="body" idx="1"/>
          </p:nvPr>
        </p:nvSpPr>
        <p:spPr>
          <a:xfrm>
            <a:off x="311700" y="1017725"/>
            <a:ext cx="8520600" cy="3882900"/>
          </a:xfrm>
          <a:prstGeom prst="rect">
            <a:avLst/>
          </a:prstGeom>
        </p:spPr>
        <p:txBody>
          <a:bodyPr spcFirstLastPara="1" wrap="square" lIns="91425" tIns="91425" rIns="91425" bIns="91425" anchor="t" anchorCtr="0">
            <a:normAutofit/>
          </a:bodyPr>
          <a:lstStyle/>
          <a:p>
            <a:pPr marL="457200" lvl="0" indent="-311150" algn="l" rtl="0">
              <a:spcBef>
                <a:spcPts val="1200"/>
              </a:spcBef>
              <a:spcAft>
                <a:spcPts val="0"/>
              </a:spcAft>
              <a:buClr>
                <a:schemeClr val="dk1"/>
              </a:buClr>
              <a:buSzPts val="1300"/>
              <a:buChar char="●"/>
            </a:pPr>
            <a:r>
              <a:rPr lang="en" sz="1400" b="1">
                <a:solidFill>
                  <a:schemeClr val="dk1"/>
                </a:solidFill>
                <a:latin typeface="Times New Roman"/>
                <a:ea typeface="Times New Roman"/>
                <a:cs typeface="Times New Roman"/>
                <a:sym typeface="Times New Roman"/>
              </a:rPr>
              <a:t>Investigate the impact of major social events</a:t>
            </a:r>
            <a:endParaRPr sz="1400">
              <a:solidFill>
                <a:schemeClr val="dk1"/>
              </a:solidFill>
              <a:latin typeface="Times New Roman"/>
              <a:ea typeface="Times New Roman"/>
              <a:cs typeface="Times New Roman"/>
              <a:sym typeface="Times New Roman"/>
            </a:endParaRPr>
          </a:p>
          <a:p>
            <a:pPr marL="914400" lvl="1" indent="-311150" algn="l" rtl="0">
              <a:spcBef>
                <a:spcPts val="0"/>
              </a:spcBef>
              <a:spcAft>
                <a:spcPts val="0"/>
              </a:spcAft>
              <a:buClr>
                <a:schemeClr val="dk1"/>
              </a:buClr>
              <a:buSzPts val="1300"/>
              <a:buChar char="○"/>
            </a:pPr>
            <a:r>
              <a:rPr lang="en">
                <a:solidFill>
                  <a:schemeClr val="dk1"/>
                </a:solidFill>
                <a:latin typeface="Times New Roman"/>
                <a:ea typeface="Times New Roman"/>
                <a:cs typeface="Times New Roman"/>
                <a:sym typeface="Times New Roman"/>
              </a:rPr>
              <a:t>Study the Effects of COVID-19: Analyze how pandemics have altered buyer preferences and market trends, such as shifts towards more spacious properties outside city centers or increased demand for homes with office spaces.</a:t>
            </a:r>
            <a:endParaRPr>
              <a:solidFill>
                <a:schemeClr val="dk1"/>
              </a:solidFill>
              <a:latin typeface="Times New Roman"/>
              <a:ea typeface="Times New Roman"/>
              <a:cs typeface="Times New Roman"/>
              <a:sym typeface="Times New Roman"/>
            </a:endParaRPr>
          </a:p>
          <a:p>
            <a:pPr marL="914400" lvl="1" indent="-298450" algn="l" rtl="0">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Economic Recession Analysis: Examine property price trends before, during, and after major economic downturns to determine how different segments of the housing market respond to economic stress.</a:t>
            </a:r>
            <a:endParaRPr>
              <a:solidFill>
                <a:schemeClr val="dk1"/>
              </a:solidFill>
              <a:latin typeface="Times New Roman"/>
              <a:ea typeface="Times New Roman"/>
              <a:cs typeface="Times New Roman"/>
              <a:sym typeface="Times New Roman"/>
            </a:endParaRPr>
          </a:p>
          <a:p>
            <a:pPr marL="457200" lvl="0" indent="-311150" algn="l" rtl="0">
              <a:spcBef>
                <a:spcPts val="0"/>
              </a:spcBef>
              <a:spcAft>
                <a:spcPts val="0"/>
              </a:spcAft>
              <a:buClr>
                <a:schemeClr val="dk1"/>
              </a:buClr>
              <a:buSzPts val="1300"/>
              <a:buChar char="●"/>
            </a:pPr>
            <a:r>
              <a:rPr lang="en" sz="1400" b="1">
                <a:solidFill>
                  <a:schemeClr val="dk1"/>
                </a:solidFill>
                <a:latin typeface="Times New Roman"/>
                <a:ea typeface="Times New Roman"/>
                <a:cs typeface="Times New Roman"/>
                <a:sym typeface="Times New Roman"/>
              </a:rPr>
              <a:t>Analyze the Influence of Location on Property Prices</a:t>
            </a:r>
            <a:endParaRPr sz="1400" b="1">
              <a:solidFill>
                <a:schemeClr val="dk1"/>
              </a:solidFill>
              <a:latin typeface="Times New Roman"/>
              <a:ea typeface="Times New Roman"/>
              <a:cs typeface="Times New Roman"/>
              <a:sym typeface="Times New Roman"/>
            </a:endParaRPr>
          </a:p>
          <a:p>
            <a:pPr marL="914400" lvl="1" indent="-311150" algn="l" rtl="0">
              <a:spcBef>
                <a:spcPts val="0"/>
              </a:spcBef>
              <a:spcAft>
                <a:spcPts val="0"/>
              </a:spcAft>
              <a:buClr>
                <a:schemeClr val="dk1"/>
              </a:buClr>
              <a:buSzPts val="1300"/>
              <a:buChar char="○"/>
            </a:pPr>
            <a:r>
              <a:rPr lang="en">
                <a:solidFill>
                  <a:schemeClr val="dk1"/>
                </a:solidFill>
                <a:latin typeface="Times New Roman"/>
                <a:ea typeface="Times New Roman"/>
                <a:cs typeface="Times New Roman"/>
                <a:sym typeface="Times New Roman"/>
              </a:rPr>
              <a:t>Proximity to Key Infrastructure: </a:t>
            </a:r>
            <a:r>
              <a:rPr lang="en" sz="1400">
                <a:solidFill>
                  <a:schemeClr val="dk1"/>
                </a:solidFill>
                <a:latin typeface="Times New Roman"/>
                <a:ea typeface="Times New Roman"/>
                <a:cs typeface="Times New Roman"/>
                <a:sym typeface="Times New Roman"/>
              </a:rPr>
              <a:t>Quantitatively analyze how proximity to major transportation hubs (airports, train stations) and highways affects property values.</a:t>
            </a:r>
            <a:endParaRPr>
              <a:solidFill>
                <a:schemeClr val="dk1"/>
              </a:solidFill>
              <a:latin typeface="Times New Roman"/>
              <a:ea typeface="Times New Roman"/>
              <a:cs typeface="Times New Roman"/>
              <a:sym typeface="Times New Roman"/>
            </a:endParaRPr>
          </a:p>
          <a:p>
            <a:pPr marL="914400" lvl="1" indent="-311150" algn="l" rtl="0">
              <a:spcBef>
                <a:spcPts val="0"/>
              </a:spcBef>
              <a:spcAft>
                <a:spcPts val="0"/>
              </a:spcAft>
              <a:buClr>
                <a:schemeClr val="dk1"/>
              </a:buClr>
              <a:buSzPts val="1300"/>
              <a:buChar char="○"/>
            </a:pPr>
            <a:r>
              <a:rPr lang="en">
                <a:solidFill>
                  <a:schemeClr val="dk1"/>
                </a:solidFill>
                <a:latin typeface="Times New Roman"/>
                <a:ea typeface="Times New Roman"/>
                <a:cs typeface="Times New Roman"/>
                <a:sym typeface="Times New Roman"/>
              </a:rPr>
              <a:t>Access to Green Spaces: </a:t>
            </a:r>
            <a:r>
              <a:rPr lang="en" sz="1400">
                <a:solidFill>
                  <a:schemeClr val="dk1"/>
                </a:solidFill>
                <a:latin typeface="Times New Roman"/>
                <a:ea typeface="Times New Roman"/>
                <a:cs typeface="Times New Roman"/>
                <a:sym typeface="Times New Roman"/>
              </a:rPr>
              <a:t>Study the correlation between the proximity to parks, rivers, and other green spaces and the increase in property prices, considering the growing demand for more natural surroundings within urban settings.</a:t>
            </a:r>
            <a:endParaRPr sz="1400">
              <a:solidFill>
                <a:schemeClr val="dk1"/>
              </a:solidFill>
              <a:latin typeface="Times New Roman"/>
              <a:ea typeface="Times New Roman"/>
              <a:cs typeface="Times New Roman"/>
              <a:sym typeface="Times New Roman"/>
            </a:endParaRPr>
          </a:p>
          <a:p>
            <a:pPr marL="914400" lvl="1" indent="-298450" algn="l" rtl="0">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Historical Significance: Assess how being designated as a historical landmark or located in a heritage site impacts property values due to restrictions and desirability.</a:t>
            </a:r>
            <a:endParaRPr>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1426</Words>
  <Application>Microsoft Macintosh PowerPoint</Application>
  <PresentationFormat>On-screen Show (16:9)</PresentationFormat>
  <Paragraphs>64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Times New Roman</vt:lpstr>
      <vt:lpstr>Simple Light</vt:lpstr>
      <vt:lpstr>CIS 240 Final Project </vt:lpstr>
      <vt:lpstr>Introduction </vt:lpstr>
      <vt:lpstr>Data Cleaning and Transformation</vt:lpstr>
      <vt:lpstr>Visualization 1 - Historical Price Change Over Time</vt:lpstr>
      <vt:lpstr>Visualization 2 - Historical Price by Tenure</vt:lpstr>
      <vt:lpstr>Visualization 3 - How Current Price affect by Energe Rate? </vt:lpstr>
      <vt:lpstr>Visualization 4 - Influence of Bedrooms and Bathrooms on Historical Prices</vt:lpstr>
      <vt:lpstr>Visualization 5 - Average Historical Prices by Postcodes</vt:lpstr>
      <vt:lpstr>Next Step Idea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simeng xiong</cp:lastModifiedBy>
  <cp:revision>1</cp:revision>
  <dcterms:modified xsi:type="dcterms:W3CDTF">2026-02-08T08:30:59Z</dcterms:modified>
</cp:coreProperties>
</file>